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4"/>
  </p:sldMasterIdLst>
  <p:notesMasterIdLst>
    <p:notesMasterId r:id="rId11"/>
  </p:notesMasterIdLst>
  <p:handoutMasterIdLst>
    <p:handoutMasterId r:id="rId12"/>
  </p:handoutMasterIdLst>
  <p:sldIdLst>
    <p:sldId id="275" r:id="rId5"/>
    <p:sldId id="277" r:id="rId6"/>
    <p:sldId id="278" r:id="rId7"/>
    <p:sldId id="274" r:id="rId8"/>
    <p:sldId id="279" r:id="rId9"/>
    <p:sldId id="276" r:id="rId10"/>
  </p:sldIdLst>
  <p:sldSz cx="100584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orient="horz" pos="2784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pos="31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595B"/>
    <a:srgbClr val="EA4D8C"/>
    <a:srgbClr val="1A305C"/>
    <a:srgbClr val="3F765F"/>
    <a:srgbClr val="367058"/>
    <a:srgbClr val="1B4935"/>
    <a:srgbClr val="679B9B"/>
    <a:srgbClr val="25654A"/>
    <a:srgbClr val="E6E6E6"/>
    <a:srgbClr val="F385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45CAD4-75E6-4C9C-A578-883BA7733E5F}" v="15" dt="2025-05-08T01:50:00.5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25" autoAdjust="0"/>
  </p:normalViewPr>
  <p:slideViewPr>
    <p:cSldViewPr snapToGrid="0" showGuides="1">
      <p:cViewPr varScale="1">
        <p:scale>
          <a:sx n="68" d="100"/>
          <a:sy n="68" d="100"/>
        </p:scale>
        <p:origin x="1056" y="38"/>
      </p:cViewPr>
      <p:guideLst>
        <p:guide orient="horz" pos="2088"/>
        <p:guide orient="horz" pos="2784"/>
        <p:guide orient="horz" pos="576"/>
        <p:guide pos="3168"/>
      </p:guideLst>
    </p:cSldViewPr>
  </p:slideViewPr>
  <p:outlineViewPr>
    <p:cViewPr>
      <p:scale>
        <a:sx n="33" d="100"/>
        <a:sy n="33" d="100"/>
      </p:scale>
      <p:origin x="0" y="-115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B51015-12CA-4649-B47F-D3EB5E1095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11F2F-D8BA-4A13-91FC-3878C75727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68B7C-E4CD-4872-B084-44133F808FCE}" type="datetimeFigureOut">
              <a:rPr lang="en-US" smtClean="0"/>
              <a:t>5/8/2025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8FD67D-A60A-4914-89F3-9FC43EF547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642D8-EDCF-4A15-A29F-1B065ECC2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E8E42-E7C5-4B24-8575-74A765CA0A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306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3D5BD-E30B-48AB-B24F-3878C333D518}" type="datetimeFigureOut">
              <a:rPr lang="en-US" smtClean="0"/>
              <a:t>5/8/2025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1A707-0A4C-444E-BBAC-8F56E4534D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9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214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878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00804-5127-A7F6-2D28-55BE4CB4E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EF7F2-BFF1-4A83-C492-AD012BADE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F0DA6-37A3-88EA-F909-30D78D84C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B6AD7-4CA0-48F9-48D3-DEC363AA7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57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1A707-0A4C-444E-BBAC-8F56E4534D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19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319272"/>
            <a:ext cx="10058400" cy="44531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0BD0440-9D47-4C93-95F9-EFC0FCF1C6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3575303"/>
            <a:ext cx="2889504" cy="2883863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62D81F5-56E3-4D39-96F6-6C09DF4C28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0058400" cy="331927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51B54BE4-E4FF-CB9D-4AA3-438520D04D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4791" y="3575303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087368"/>
            <a:ext cx="2893612" cy="339111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013E0E94-05A3-AF4B-2D4B-AD8A4E2F8F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72003" y="3554097"/>
            <a:ext cx="2898647" cy="444960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569348C-F945-4CEC-9698-686F8ABC8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4087368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1401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7DA993-9462-4064-B89B-BCEF27D4D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4476" y="3331758"/>
            <a:ext cx="3360592" cy="44406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31403-AA2F-415D-BC4C-E1168B62C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710" y="3329078"/>
            <a:ext cx="3360592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9F801B-9725-432B-9CE8-6F353446EC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3886200"/>
            <a:ext cx="2804477" cy="475315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US" sz="2400" b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Click to add text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340"/>
            <a:ext cx="3342882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4410389"/>
            <a:ext cx="2804477" cy="311483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998F7F43-9F0A-4A12-909E-A0A45D5129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97760" y="0"/>
            <a:ext cx="2895600" cy="653143"/>
          </a:xfrm>
        </p:spPr>
        <p:txBody>
          <a:bodyPr lIns="0" anchor="b">
            <a:no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5331389-512C-445A-AAE9-512161E810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7442" y="653143"/>
            <a:ext cx="2895600" cy="3473689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4471779"/>
            <a:ext cx="3348000" cy="3300621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03975" y="0"/>
            <a:ext cx="3354425" cy="3329078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77F65966-649A-4014-AAD1-3121592E2E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2615" y="4350709"/>
            <a:ext cx="2887103" cy="311483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1984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8A0F1A-22FB-45FF-80D6-4FE63A63E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0" y="0"/>
            <a:ext cx="3355200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lnSpc>
                <a:spcPct val="150000"/>
              </a:lnSpc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1E5D2-6D16-41B9-8D95-C3831084A57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5038" y="4713694"/>
            <a:ext cx="2889504" cy="1770169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0" cap="all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1E1772A-8C1A-43F8-A297-A2A1C4961A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25038" y="6530864"/>
            <a:ext cx="2889504" cy="453005"/>
          </a:xfrm>
        </p:spPr>
        <p:txBody>
          <a:bodyPr vert="horz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cap="all" spc="3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492751-E9EF-463C-8C1E-1AA3A9B1D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55200" y="3886200"/>
            <a:ext cx="33480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3655C91-4C63-7435-25A3-BB5C8713D9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8600" y="282102"/>
            <a:ext cx="2894013" cy="1663429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86030C3-0988-4616-B1A6-DC729760D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044385"/>
            <a:ext cx="2893612" cy="480709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spcBef>
                <a:spcPts val="1200"/>
              </a:spcBef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023C27-C474-480F-BC7F-9C1AAFCAD9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52801" y="0"/>
            <a:ext cx="6705600" cy="44196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27622711-E5B3-A1BF-1F1D-7E5BD1EE63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76213" y="4521461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67651986-01F3-4697-A0D4-31F6A10983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77038" y="5216093"/>
            <a:ext cx="2893612" cy="1741653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buNone/>
              <a:defRPr sz="11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to add text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40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4B57A7-3A86-45DA-B5CA-AC7A481E3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355974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F3BCA9-2C74-4567-9FB2-2CE1AC28A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2425" y="0"/>
            <a:ext cx="3355975" cy="444332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7D4C849E-DCC1-4757-BBBF-C69B4CD0B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1" y="89036"/>
            <a:ext cx="2862734" cy="759499"/>
          </a:xfrm>
        </p:spPr>
        <p:txBody>
          <a:bodyPr vert="horz" lIns="0" tIns="45720" rIns="91440" bIns="45720" rtlCol="0" anchor="ctr">
            <a:noAutofit/>
          </a:bodyPr>
          <a:lstStyle>
            <a:lvl1pPr>
              <a:defRPr lang="en-US" sz="2400" b="0" cap="none" baseline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to add title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7DB83E81-869F-4BAD-AEC6-B87F2B879A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848535"/>
            <a:ext cx="2864802" cy="3505751"/>
          </a:xfrm>
        </p:spPr>
        <p:txBody>
          <a:bodyPr lIns="9144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6E48971-37C3-4BED-A53F-BBE4AE0A58D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86D9E3AF-002F-496A-AE6E-5675F64592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5975" y="-1"/>
            <a:ext cx="3348000" cy="330062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Text Placeholder 18">
            <a:extLst>
              <a:ext uri="{FF2B5EF4-FFF2-40B4-BE49-F238E27FC236}">
                <a16:creationId xmlns:a16="http://schemas.microsoft.com/office/drawing/2014/main" id="{6A9BD8AF-34CA-4F04-9A17-B45F6EB3AA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1400" y="3554730"/>
            <a:ext cx="2895599" cy="3989070"/>
          </a:xfrm>
        </p:spPr>
        <p:txBody>
          <a:bodyPr lIns="0" anchor="ctr">
            <a:normAutofit/>
          </a:bodyPr>
          <a:lstStyle>
            <a:lvl1pPr marL="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2pPr>
            <a:lvl3pPr marL="9144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3pPr>
            <a:lvl4pPr marL="13716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4pPr>
            <a:lvl5pPr marL="1828800" indent="0">
              <a:lnSpc>
                <a:spcPct val="150000"/>
              </a:lnSpc>
              <a:buNone/>
              <a:defRPr sz="2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2390D74A-03BA-4C31-B59B-57CCDAF885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29400" y="89036"/>
            <a:ext cx="2898647" cy="670463"/>
          </a:xfrm>
        </p:spPr>
        <p:txBody>
          <a:bodyPr lIns="9144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add text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50BE2EB5-0041-4D2D-A6AE-4DE92FEED8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1151" y="848535"/>
            <a:ext cx="2898647" cy="3505751"/>
          </a:xfrm>
        </p:spPr>
        <p:txBody>
          <a:bodyPr lIns="91440">
            <a:normAutofit/>
          </a:bodyPr>
          <a:lstStyle>
            <a:lvl1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defRPr sz="11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E35617C7-C13A-4F76-8C0C-AF5E38C6227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10400" y="4443322"/>
            <a:ext cx="3348000" cy="3329078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2004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615E1-5D6D-48CF-AD07-8B84FA4FC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601199" cy="15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7D790-2770-4A00-BC9B-FA42651B6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599" y="2363788"/>
            <a:ext cx="9601199" cy="5180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99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4" r:id="rId2"/>
    <p:sldLayoutId id="2147483693" r:id="rId3"/>
    <p:sldLayoutId id="214748369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112" userDrawn="1">
          <p15:clr>
            <a:srgbClr val="F26B43"/>
          </p15:clr>
        </p15:guide>
        <p15:guide id="3" pos="4224" userDrawn="1">
          <p15:clr>
            <a:srgbClr val="F26B43"/>
          </p15:clr>
        </p15:guide>
        <p15:guide id="4" pos="144" userDrawn="1">
          <p15:clr>
            <a:srgbClr val="5ACBF0"/>
          </p15:clr>
        </p15:guide>
        <p15:guide id="6" pos="6192" userDrawn="1">
          <p15:clr>
            <a:srgbClr val="5ACBF0"/>
          </p15:clr>
        </p15:guide>
        <p15:guide id="8" orient="horz" pos="144" userDrawn="1">
          <p15:clr>
            <a:srgbClr val="5ACBF0"/>
          </p15:clr>
        </p15:guide>
        <p15:guide id="9" orient="horz" pos="4752" userDrawn="1">
          <p15:clr>
            <a:srgbClr val="5ACBF0"/>
          </p15:clr>
        </p15:guide>
        <p15:guide id="10" pos="1968" userDrawn="1">
          <p15:clr>
            <a:srgbClr val="5ACBF0"/>
          </p15:clr>
        </p15:guide>
        <p15:guide id="11" pos="2256" userDrawn="1">
          <p15:clr>
            <a:srgbClr val="5ACBF0"/>
          </p15:clr>
        </p15:guide>
        <p15:guide id="12" pos="4080" userDrawn="1">
          <p15:clr>
            <a:srgbClr val="5ACBF0"/>
          </p15:clr>
        </p15:guide>
        <p15:guide id="13" pos="436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0A808-7F12-4113-98A3-D227177B9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791" y="3575304"/>
            <a:ext cx="9562751" cy="1023200"/>
          </a:xfrm>
        </p:spPr>
        <p:txBody>
          <a:bodyPr/>
          <a:lstStyle/>
          <a:p>
            <a:r>
              <a:rPr lang="en-IN" b="1" dirty="0"/>
              <a:t>Failed Bank Transaction Analysis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AA6-65E7-4E7A-B550-6220A616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7769" y="5431875"/>
            <a:ext cx="5062861" cy="453005"/>
          </a:xfrm>
        </p:spPr>
        <p:txBody>
          <a:bodyPr>
            <a:normAutofit/>
          </a:bodyPr>
          <a:lstStyle/>
          <a:p>
            <a:r>
              <a:rPr lang="en-IN" sz="1600" dirty="0"/>
              <a:t>Error Trends in Transactions</a:t>
            </a:r>
            <a:endParaRPr lang="en-US" sz="1600" dirty="0"/>
          </a:p>
        </p:txBody>
      </p:sp>
      <p:pic>
        <p:nvPicPr>
          <p:cNvPr id="33" name="Picture Placeholder 32" descr="close up of mathematical graphs">
            <a:extLst>
              <a:ext uri="{FF2B5EF4-FFF2-40B4-BE49-F238E27FC236}">
                <a16:creationId xmlns:a16="http://schemas.microsoft.com/office/drawing/2014/main" id="{7BD14B25-FFA5-4B8F-896A-1D6AD5C15A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" r="121"/>
          <a:stretch/>
        </p:blipFill>
        <p:spPr>
          <a:xfrm>
            <a:off x="0" y="0"/>
            <a:ext cx="10058400" cy="3319272"/>
          </a:xfrm>
        </p:spPr>
      </p:pic>
    </p:spTree>
    <p:extLst>
      <p:ext uri="{BB962C8B-B14F-4D97-AF65-F5344CB8AC3E}">
        <p14:creationId xmlns:p14="http://schemas.microsoft.com/office/powerpoint/2010/main" val="34688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32F5-EA62-EF84-2C2C-C0A6E2488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8256" y="366982"/>
            <a:ext cx="6136286" cy="1249784"/>
          </a:xfrm>
        </p:spPr>
        <p:txBody>
          <a:bodyPr/>
          <a:lstStyle/>
          <a:p>
            <a:pPr algn="l"/>
            <a:r>
              <a:rPr lang="en-IN" sz="3200" b="1" i="1"/>
              <a:t>Purpose Behind This Study</a:t>
            </a:r>
            <a:endParaRPr lang="en-IN" sz="3200" b="1" i="1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54C43F7-048B-056D-F039-21E8A5E7AE36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3678239" y="2502494"/>
            <a:ext cx="613628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11595B"/>
                </a:solidFill>
                <a:effectLst/>
                <a:latin typeface="Aldhabi" panose="020F0502020204030204" pitchFamily="2" charset="-78"/>
                <a:cs typeface="Aldhabi" panose="020F0502020204030204" pitchFamily="2" charset="-78"/>
              </a:rPr>
              <a:t>Analyze failed transactions within a 7-day window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11595B"/>
                </a:solidFill>
                <a:effectLst/>
                <a:latin typeface="Aldhabi" panose="020F0502020204030204" pitchFamily="2" charset="-78"/>
                <a:cs typeface="Aldhabi" panose="020F0502020204030204" pitchFamily="2" charset="-78"/>
              </a:rPr>
              <a:t>Identify most common error messages causing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11595B"/>
                </a:solidFill>
                <a:effectLst/>
                <a:latin typeface="Aldhabi" panose="020F0502020204030204" pitchFamily="2" charset="-78"/>
                <a:cs typeface="Aldhabi" panose="020F0502020204030204" pitchFamily="2" charset="-78"/>
              </a:rPr>
              <a:t>Understand failure patterns by branch, city, and transaction 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11595B"/>
                </a:solidFill>
                <a:effectLst/>
                <a:latin typeface="Aldhabi" panose="020F0502020204030204" pitchFamily="2" charset="-78"/>
                <a:cs typeface="Aldhabi" panose="020F0502020204030204" pitchFamily="2" charset="-78"/>
              </a:rPr>
              <a:t>Determine impact of amount and day on transaction failures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11595B"/>
                </a:solidFill>
                <a:effectLst/>
                <a:latin typeface="Aldhabi" panose="020F0502020204030204" pitchFamily="2" charset="-78"/>
                <a:cs typeface="Aldhabi" panose="020F0502020204030204" pitchFamily="2" charset="-78"/>
              </a:rPr>
              <a:t>Provide insights to reduce future transaction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>
                <a:ln>
                  <a:noFill/>
                </a:ln>
                <a:solidFill>
                  <a:srgbClr val="11595B"/>
                </a:solidFill>
                <a:effectLst/>
                <a:latin typeface="Aldhabi" panose="020F0502020204030204" pitchFamily="2" charset="-78"/>
                <a:cs typeface="Aldhabi" panose="020F0502020204030204" pitchFamily="2" charset="-78"/>
              </a:rPr>
              <a:t>Support decision-making for operational improvements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rgbClr val="11595B"/>
              </a:solidFill>
              <a:effectLst/>
              <a:latin typeface="Aldhabi" panose="020F0502020204030204" pitchFamily="2" charset="-78"/>
              <a:cs typeface="Aldhabi" panose="020F0502020204030204" pitchFamily="2" charset="-78"/>
            </a:endParaRPr>
          </a:p>
        </p:txBody>
      </p:sp>
      <p:pic>
        <p:nvPicPr>
          <p:cNvPr id="13" name="Picture 12" descr="A hand holding a phone&#10;&#10;AI-generated content may be incorrect.">
            <a:extLst>
              <a:ext uri="{FF2B5EF4-FFF2-40B4-BE49-F238E27FC236}">
                <a16:creationId xmlns:a16="http://schemas.microsoft.com/office/drawing/2014/main" id="{295C0FCD-B41E-6D04-6515-E67FCCFBE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4140"/>
            <a:ext cx="3312160" cy="248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6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A chart with colorful text&#10;&#10;AI-generated content may be incorrect.">
            <a:extLst>
              <a:ext uri="{FF2B5EF4-FFF2-40B4-BE49-F238E27FC236}">
                <a16:creationId xmlns:a16="http://schemas.microsoft.com/office/drawing/2014/main" id="{BD9C02F4-4A89-6E1B-4468-1F8C5B76C75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t="6061" b="6061"/>
          <a:stretch>
            <a:fillRect/>
          </a:stretch>
        </p:blipFill>
        <p:spPr>
          <a:xfrm>
            <a:off x="3411672" y="969433"/>
            <a:ext cx="6646728" cy="5600700"/>
          </a:xfr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677BE24D-D169-D1FD-7A7D-A7A9C9341A5D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228600" y="2179614"/>
            <a:ext cx="289842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b="1" dirty="0">
                <a:latin typeface="Aldhabi" panose="01000000000000000000" pitchFamily="2" charset="-78"/>
                <a:cs typeface="Aldhabi" panose="01000000000000000000" pitchFamily="2" charset="-78"/>
              </a:rPr>
              <a:t> Deloitte Banking Insight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effectLst/>
                <a:latin typeface="Aldhabi" panose="01000000000000000000" pitchFamily="2" charset="-78"/>
                <a:cs typeface="Aldhabi" panose="01000000000000000000" pitchFamily="2" charset="-78"/>
              </a:rPr>
              <a:t>MySql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Aldhabi" panose="01000000000000000000" pitchFamily="2" charset="-78"/>
                <a:cs typeface="Aldhabi" panose="01000000000000000000" pitchFamily="2" charset="-78"/>
              </a:rPr>
              <a:t> Google Cloud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lang="en-US" altLang="en-US" sz="3200" b="1" dirty="0" err="1">
                <a:latin typeface="Aldhabi" panose="01000000000000000000" pitchFamily="2" charset="-78"/>
                <a:cs typeface="Aldhabi" panose="01000000000000000000" pitchFamily="2" charset="-78"/>
              </a:rPr>
              <a:t>Pyspark</a:t>
            </a:r>
            <a:r>
              <a:rPr lang="en-US" altLang="en-US" sz="3200" b="1" dirty="0">
                <a:latin typeface="Aldhabi" panose="01000000000000000000" pitchFamily="2" charset="-78"/>
                <a:cs typeface="Aldhabi" panose="01000000000000000000" pitchFamily="2" charset="-78"/>
              </a:rPr>
              <a:t> -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effectLst/>
                <a:latin typeface="Aldhabi" panose="01000000000000000000" pitchFamily="2" charset="-78"/>
                <a:cs typeface="Aldhabi" panose="01000000000000000000" pitchFamily="2" charset="-78"/>
              </a:rPr>
              <a:t>Dataproc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Aldhabi" panose="01000000000000000000" pitchFamily="2" charset="-78"/>
                <a:cs typeface="Aldhabi" panose="01000000000000000000" pitchFamily="2" charset="-78"/>
              </a:rPr>
              <a:t>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effectLst/>
                <a:latin typeface="Aldhabi" panose="01000000000000000000" pitchFamily="2" charset="-78"/>
                <a:cs typeface="Aldhabi" panose="01000000000000000000" pitchFamily="2" charset="-78"/>
              </a:rPr>
              <a:t>BigQuery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Aldhabi" panose="01000000000000000000" pitchFamily="2" charset="-78"/>
              <a:cs typeface="Aldhabi" panose="01000000000000000000" pitchFamily="2" charset="-7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Aldhabi" panose="01000000000000000000" pitchFamily="2" charset="-78"/>
                <a:cs typeface="Aldhabi" panose="01000000000000000000" pitchFamily="2" charset="-78"/>
              </a:rPr>
              <a:t> Looker Studio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effectLst/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46870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>
            <a:extLst>
              <a:ext uri="{FF2B5EF4-FFF2-40B4-BE49-F238E27FC236}">
                <a16:creationId xmlns:a16="http://schemas.microsoft.com/office/drawing/2014/main" id="{FD30442A-A1AE-4FD1-B045-22F09C71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86200"/>
            <a:ext cx="2804477" cy="787400"/>
          </a:xfrm>
        </p:spPr>
        <p:txBody>
          <a:bodyPr/>
          <a:lstStyle/>
          <a:p>
            <a:pPr algn="ctr"/>
            <a:r>
              <a:rPr lang="en-IN" sz="2800" b="1" dirty="0"/>
              <a:t>Top Transaction Errors</a:t>
            </a:r>
            <a:br>
              <a:rPr lang="en-US" dirty="0"/>
            </a:br>
            <a:endParaRPr lang="en-US" dirty="0"/>
          </a:p>
        </p:txBody>
      </p:sp>
      <p:pic>
        <p:nvPicPr>
          <p:cNvPr id="25" name="Picture Placeholder 24" descr="group collaborating over a laptop">
            <a:extLst>
              <a:ext uri="{FF2B5EF4-FFF2-40B4-BE49-F238E27FC236}">
                <a16:creationId xmlns:a16="http://schemas.microsoft.com/office/drawing/2014/main" id="{3A866D61-5A53-48A0-9828-C82CDA027D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" b="71"/>
          <a:stretch/>
        </p:blipFill>
        <p:spPr>
          <a:xfrm>
            <a:off x="0" y="1340"/>
            <a:ext cx="3342882" cy="3329078"/>
          </a:xfr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B16388D3-BE48-44F4-A6D7-DDF2293730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5229382"/>
            <a:ext cx="2804477" cy="2295846"/>
          </a:xfrm>
        </p:spPr>
        <p:txBody>
          <a:bodyPr>
            <a:normAutofit/>
          </a:bodyPr>
          <a:lstStyle/>
          <a:p>
            <a:r>
              <a:rPr lang="en-US" sz="1800" dirty="0"/>
              <a:t>Most common error messages causing transaction failures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4508FAD-2D2E-458D-B98F-3AB625F327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53815" y="797754"/>
            <a:ext cx="2895600" cy="653143"/>
          </a:xfrm>
        </p:spPr>
        <p:txBody>
          <a:bodyPr/>
          <a:lstStyle/>
          <a:p>
            <a:pPr algn="ctr"/>
            <a:r>
              <a:rPr lang="en-IN" sz="2800" b="1" dirty="0"/>
              <a:t>Failure by Transaction Type</a:t>
            </a:r>
            <a:endParaRPr lang="en-US" sz="2800" b="1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FD12705-AB70-40E3-A13F-B36B09C895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7442" y="1795844"/>
            <a:ext cx="2895600" cy="2330988"/>
          </a:xfrm>
        </p:spPr>
        <p:txBody>
          <a:bodyPr>
            <a:normAutofit/>
          </a:bodyPr>
          <a:lstStyle/>
          <a:p>
            <a:r>
              <a:rPr lang="en-US" sz="1800" dirty="0"/>
              <a:t>Which transaction methods experience more failures.</a:t>
            </a:r>
          </a:p>
        </p:txBody>
      </p:sp>
      <p:pic>
        <p:nvPicPr>
          <p:cNvPr id="8" name="Picture Placeholder 7" descr="pen drawing line graph">
            <a:extLst>
              <a:ext uri="{FF2B5EF4-FFF2-40B4-BE49-F238E27FC236}">
                <a16:creationId xmlns:a16="http://schemas.microsoft.com/office/drawing/2014/main" id="{CB99DC04-3520-4C11-90E0-A4F0438ED3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" r="425"/>
          <a:stretch/>
        </p:blipFill>
        <p:spPr>
          <a:xfrm>
            <a:off x="3355975" y="3793068"/>
            <a:ext cx="3348000" cy="2554398"/>
          </a:xfrm>
        </p:spPr>
      </p:pic>
      <p:pic>
        <p:nvPicPr>
          <p:cNvPr id="9" name="Picture Placeholder 8" descr="woman holding binder leaving office">
            <a:extLst>
              <a:ext uri="{FF2B5EF4-FFF2-40B4-BE49-F238E27FC236}">
                <a16:creationId xmlns:a16="http://schemas.microsoft.com/office/drawing/2014/main" id="{7F4B8A9C-45CD-4CD3-9835-7B75C8E7DF8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5" b="95"/>
          <a:stretch/>
        </p:blipFill>
        <p:spPr>
          <a:xfrm>
            <a:off x="6703975" y="0"/>
            <a:ext cx="3354425" cy="3329078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C64EB9-E6EA-45AD-9476-BDDE899850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2615" y="5229382"/>
            <a:ext cx="2887103" cy="22361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+mn-lt"/>
              </a:rPr>
              <a:t>How transaction failures vary across different amount ranges.</a:t>
            </a:r>
          </a:p>
        </p:txBody>
      </p:sp>
      <p:sp>
        <p:nvSpPr>
          <p:cNvPr id="3" name="Title 85">
            <a:extLst>
              <a:ext uri="{FF2B5EF4-FFF2-40B4-BE49-F238E27FC236}">
                <a16:creationId xmlns:a16="http://schemas.microsoft.com/office/drawing/2014/main" id="{68AABF9C-B018-EC43-8128-FCA6A9DABE6A}"/>
              </a:ext>
            </a:extLst>
          </p:cNvPr>
          <p:cNvSpPr txBox="1">
            <a:spLocks/>
          </p:cNvSpPr>
          <p:nvPr/>
        </p:nvSpPr>
        <p:spPr>
          <a:xfrm>
            <a:off x="6993927" y="3698435"/>
            <a:ext cx="2804477" cy="7874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en-IN" sz="2800" b="1" dirty="0"/>
              <a:t>Failures by Amount Range</a:t>
            </a:r>
            <a:br>
              <a:rPr lang="en-IN" dirty="0"/>
            </a:br>
            <a:endParaRPr lang="en-IN" dirty="0"/>
          </a:p>
        </p:txBody>
      </p:sp>
      <p:pic>
        <p:nvPicPr>
          <p:cNvPr id="7" name="Picture 6" descr="A graph of a number of blue rectangular bars&#10;&#10;AI-generated content may be incorrect.">
            <a:extLst>
              <a:ext uri="{FF2B5EF4-FFF2-40B4-BE49-F238E27FC236}">
                <a16:creationId xmlns:a16="http://schemas.microsoft.com/office/drawing/2014/main" id="{5FDB0220-EDFC-7F45-0077-59A2946A9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" y="1"/>
            <a:ext cx="3342260" cy="3329078"/>
          </a:xfrm>
          <a:prstGeom prst="rect">
            <a:avLst/>
          </a:prstGeom>
        </p:spPr>
      </p:pic>
      <p:pic>
        <p:nvPicPr>
          <p:cNvPr id="11" name="Picture 10" descr="A colorful circle with numbers and text&#10;&#10;AI-generated content may be incorrect.">
            <a:extLst>
              <a:ext uri="{FF2B5EF4-FFF2-40B4-BE49-F238E27FC236}">
                <a16:creationId xmlns:a16="http://schemas.microsoft.com/office/drawing/2014/main" id="{65D78DED-7625-444B-A162-9FFAB869B6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4135" y="3793068"/>
            <a:ext cx="3348038" cy="2586850"/>
          </a:xfrm>
          <a:prstGeom prst="rect">
            <a:avLst/>
          </a:prstGeom>
        </p:spPr>
      </p:pic>
      <p:pic>
        <p:nvPicPr>
          <p:cNvPr id="13" name="Picture 12" descr="A graph with a line&#10;&#10;AI-generated content may be incorrect.">
            <a:extLst>
              <a:ext uri="{FF2B5EF4-FFF2-40B4-BE49-F238E27FC236}">
                <a16:creationId xmlns:a16="http://schemas.microsoft.com/office/drawing/2014/main" id="{24CC2A72-FC22-EEE1-DE88-613D1E478A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8952" y="0"/>
            <a:ext cx="3354425" cy="332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2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01459-CEDB-BCEF-A1E4-9457AD4E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85">
            <a:extLst>
              <a:ext uri="{FF2B5EF4-FFF2-40B4-BE49-F238E27FC236}">
                <a16:creationId xmlns:a16="http://schemas.microsoft.com/office/drawing/2014/main" id="{563B850A-FC11-58D6-32D2-C3CC1AC9A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886200"/>
            <a:ext cx="2804477" cy="787400"/>
          </a:xfrm>
        </p:spPr>
        <p:txBody>
          <a:bodyPr/>
          <a:lstStyle/>
          <a:p>
            <a:pPr algn="ctr"/>
            <a:r>
              <a:rPr lang="en-IN" sz="2400" b="1" dirty="0"/>
              <a:t>FAILURE BY BRANCH</a:t>
            </a:r>
            <a:br>
              <a:rPr lang="en-US" sz="2400" b="1" dirty="0"/>
            </a:br>
            <a:br>
              <a:rPr lang="en-US" dirty="0"/>
            </a:br>
            <a:endParaRPr lang="en-US" dirty="0"/>
          </a:p>
        </p:txBody>
      </p:sp>
      <p:pic>
        <p:nvPicPr>
          <p:cNvPr id="25" name="Picture Placeholder 24" descr="group collaborating over a laptop">
            <a:extLst>
              <a:ext uri="{FF2B5EF4-FFF2-40B4-BE49-F238E27FC236}">
                <a16:creationId xmlns:a16="http://schemas.microsoft.com/office/drawing/2014/main" id="{C7553FD9-FC74-5746-3ADB-9F2A4661A61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" b="71"/>
          <a:stretch/>
        </p:blipFill>
        <p:spPr>
          <a:xfrm>
            <a:off x="0" y="1340"/>
            <a:ext cx="3342882" cy="3329078"/>
          </a:xfr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25028E41-4CD0-7BB1-B077-107B713088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8600" y="5229382"/>
            <a:ext cx="2804477" cy="2295846"/>
          </a:xfrm>
        </p:spPr>
        <p:txBody>
          <a:bodyPr>
            <a:normAutofit/>
          </a:bodyPr>
          <a:lstStyle/>
          <a:p>
            <a:r>
              <a:rPr lang="en-US" sz="1800" dirty="0"/>
              <a:t>Which Branches with higher occurrences of failed transactions</a:t>
            </a:r>
          </a:p>
          <a:p>
            <a:endParaRPr lang="en-US" sz="180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4C80E990-3AA1-1682-8854-0F8F75CC53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6175" y="631451"/>
            <a:ext cx="2895600" cy="653143"/>
          </a:xfrm>
        </p:spPr>
        <p:txBody>
          <a:bodyPr/>
          <a:lstStyle/>
          <a:p>
            <a:pPr algn="ctr"/>
            <a:r>
              <a:rPr lang="en-IN" sz="2800" b="1" dirty="0"/>
              <a:t>FAILURES BY CITY</a:t>
            </a:r>
            <a:endParaRPr lang="en-US" sz="2800" b="1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F27855D5-3F63-C4B5-0C53-4C1C6FD4EC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62321" y="1592630"/>
            <a:ext cx="2496775" cy="2330988"/>
          </a:xfrm>
        </p:spPr>
        <p:txBody>
          <a:bodyPr>
            <a:normAutofit/>
          </a:bodyPr>
          <a:lstStyle/>
          <a:p>
            <a:r>
              <a:rPr lang="en-US" sz="1800" dirty="0"/>
              <a:t>Cities where transaction failures are more frequent.</a:t>
            </a:r>
          </a:p>
        </p:txBody>
      </p:sp>
      <p:pic>
        <p:nvPicPr>
          <p:cNvPr id="8" name="Picture Placeholder 7" descr="pen drawing line graph">
            <a:extLst>
              <a:ext uri="{FF2B5EF4-FFF2-40B4-BE49-F238E27FC236}">
                <a16:creationId xmlns:a16="http://schemas.microsoft.com/office/drawing/2014/main" id="{A46F60DE-E6D2-2235-8142-A0B1CB78A2E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" r="425"/>
          <a:stretch/>
        </p:blipFill>
        <p:spPr>
          <a:xfrm>
            <a:off x="3355975" y="4471779"/>
            <a:ext cx="3348000" cy="3300621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0E325B-3403-F7CE-D5C7-74A3A8B274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2615" y="5229382"/>
            <a:ext cx="2887103" cy="223616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+mn-lt"/>
              </a:rPr>
              <a:t>How The day with the highest total values lost due to failed </a:t>
            </a:r>
            <a:r>
              <a:rPr lang="en-US" sz="1800" dirty="0" err="1">
                <a:latin typeface="+mn-lt"/>
              </a:rPr>
              <a:t>trasactions</a:t>
            </a:r>
            <a:endParaRPr lang="en-US" sz="1800" dirty="0">
              <a:latin typeface="+mn-lt"/>
            </a:endParaRPr>
          </a:p>
        </p:txBody>
      </p:sp>
      <p:sp>
        <p:nvSpPr>
          <p:cNvPr id="3" name="Title 85">
            <a:extLst>
              <a:ext uri="{FF2B5EF4-FFF2-40B4-BE49-F238E27FC236}">
                <a16:creationId xmlns:a16="http://schemas.microsoft.com/office/drawing/2014/main" id="{36F7D249-C1D3-892B-E0A4-535FA71D8120}"/>
              </a:ext>
            </a:extLst>
          </p:cNvPr>
          <p:cNvSpPr txBox="1">
            <a:spLocks/>
          </p:cNvSpPr>
          <p:nvPr/>
        </p:nvSpPr>
        <p:spPr>
          <a:xfrm>
            <a:off x="6993927" y="3698435"/>
            <a:ext cx="2804477" cy="787400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en-IN" sz="2800" b="1" dirty="0"/>
              <a:t>PEAK FAILURE DAY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 descr="A pie chart with numbers and a few percentages&#10;&#10;AI-generated content may be incorrect.">
            <a:extLst>
              <a:ext uri="{FF2B5EF4-FFF2-40B4-BE49-F238E27FC236}">
                <a16:creationId xmlns:a16="http://schemas.microsoft.com/office/drawing/2014/main" id="{A3FB9EA4-AE8E-5A52-4872-97B0D2AEE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5842" y="0"/>
            <a:ext cx="4928068" cy="3630541"/>
          </a:xfrm>
          <a:prstGeom prst="rect">
            <a:avLst/>
          </a:prstGeom>
        </p:spPr>
      </p:pic>
      <p:pic>
        <p:nvPicPr>
          <p:cNvPr id="7" name="Picture 6" descr="A graph of blue bars&#10;&#10;AI-generated content may be incorrect.">
            <a:extLst>
              <a:ext uri="{FF2B5EF4-FFF2-40B4-BE49-F238E27FC236}">
                <a16:creationId xmlns:a16="http://schemas.microsoft.com/office/drawing/2014/main" id="{47A37F5A-E5EF-C53C-CFD7-29B65E6F07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426" y="3329078"/>
            <a:ext cx="6681659" cy="444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3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Placeholder 40" descr="close up of mathematical graphs">
            <a:extLst>
              <a:ext uri="{FF2B5EF4-FFF2-40B4-BE49-F238E27FC236}">
                <a16:creationId xmlns:a16="http://schemas.microsoft.com/office/drawing/2014/main" id="{B18AACB1-42A2-4B1E-8CE7-58311236AD5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9" r="319"/>
          <a:stretch/>
        </p:blipFill>
        <p:spPr>
          <a:xfrm>
            <a:off x="0" y="0"/>
            <a:ext cx="10058401" cy="7772400"/>
          </a:xfrm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CC356C8A-8959-46BC-E3EF-ECE1A0610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1" y="751840"/>
            <a:ext cx="5730239" cy="77724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THANK YOU!</a:t>
            </a:r>
            <a:endParaRPr lang="en-IN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7648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">
  <a:themeElements>
    <a:clrScheme name="Custom 5">
      <a:dk1>
        <a:srgbClr val="000000"/>
      </a:dk1>
      <a:lt1>
        <a:sysClr val="window" lastClr="FFFFFF"/>
      </a:lt1>
      <a:dk2>
        <a:srgbClr val="17406D"/>
      </a:dk2>
      <a:lt2>
        <a:srgbClr val="DBEFF9"/>
      </a:lt2>
      <a:accent1>
        <a:srgbClr val="82B1E4"/>
      </a:accent1>
      <a:accent2>
        <a:srgbClr val="17406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7406D"/>
      </a:hlink>
      <a:folHlink>
        <a:srgbClr val="82B1E4"/>
      </a:folHlink>
    </a:clrScheme>
    <a:fontScheme name="Custom 6">
      <a:majorFont>
        <a:latin typeface="Century Gothic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34074874_Tech brochure_wac_SL_V2" id="{B5A66E0F-9F65-4C21-87AC-7650413A74D1}" vid="{E67EEF08-3FBB-4E94-A110-8B91E3BCA9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87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626E1F-ED93-4A4E-AF1C-1617B798BE36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5E07359-304B-49D0-B70C-16B1E5D7FA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673FB2-2387-40EB-9933-3FCF79E8CA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DEF570-622C-457C-A082-118F5AB6A6B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brochure</Template>
  <TotalTime>157</TotalTime>
  <Words>161</Words>
  <Application>Microsoft Office PowerPoint</Application>
  <PresentationFormat>Custom</PresentationFormat>
  <Paragraphs>32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Aldhabi</vt:lpstr>
      <vt:lpstr>Arial</vt:lpstr>
      <vt:lpstr>Calibri</vt:lpstr>
      <vt:lpstr>Century Gothic</vt:lpstr>
      <vt:lpstr>Gill Sans MT</vt:lpstr>
      <vt:lpstr>Custom </vt:lpstr>
      <vt:lpstr>Failed Bank Transaction Analysis</vt:lpstr>
      <vt:lpstr>Purpose Behind This Study</vt:lpstr>
      <vt:lpstr>PowerPoint Presentation</vt:lpstr>
      <vt:lpstr>Top Transaction Errors </vt:lpstr>
      <vt:lpstr>FAILURE BY BRANCH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swethashreejs5@outlook.com</dc:creator>
  <cp:lastModifiedBy>SWETHA SHREE JAYA SUNDAR</cp:lastModifiedBy>
  <cp:revision>3</cp:revision>
  <dcterms:created xsi:type="dcterms:W3CDTF">2025-05-07T10:18:37Z</dcterms:created>
  <dcterms:modified xsi:type="dcterms:W3CDTF">2025-05-08T05:32:52Z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